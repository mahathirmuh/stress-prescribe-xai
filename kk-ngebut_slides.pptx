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Calibri"/>
              </a:rPr>
              <a:t>Explainable Machine Learning with Counterfactual Analysis
and GenAI Naturalization for Stress Prediction and Intervention
Using Sleep and Lifestyle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404040"/>
                </a:solidFill>
              </a:rPr>
              <a:t>Ananta Dwi Prayoga Alwy, Dhayu Intan Nareswari,
Mahathir Muhammad, Obi Kastanya</a:t>
            </a:r>
          </a:p>
          <a:p>
            <a:pPr algn="ctr">
              <a:spcBef>
                <a:spcPts val="1200"/>
              </a:spcBef>
            </a:pPr>
            <a:r>
              <a:rPr sz="1400" i="1">
                <a:solidFill>
                  <a:srgbClr val="404040"/>
                </a:solidFill>
              </a:rPr>
              <a:t>Department of Informatics
Faculty of Intelligent Electrical and Informatics Technology
Institut Teknologi Sepuluh Nopember, Surabaya, Indonesia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Stress Prediction with Explainable ML + Counterfactual + GenAI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Background &amp; Motivation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Research Gap &amp; Contributions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Proposed 4-Stage Framework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Dataset &amp; Preprocessing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Methodology — Prediction, Explanation, Prescription, Naturalization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Results — Model Performance, SHAP, Counterfactual, GenAI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Case Studies (Low / Mid / High Stress)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Limitations &amp; Future Work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•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Outline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  <a:latin typeface="Calibri"/>
              </a:rPr>
              <a:t>• Mental stress is a major modern health concern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Influenced by sleep, lifestyle, work pressure, digital habits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Increasingly trackable via wearables and self-report data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  <a:latin typeface="Calibri"/>
              </a:rPr>
              <a:t>• ML models can predict stress score from such data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But: most existing models are black-box → no actionable guidance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Even SHAP/LIME explanations remain too technical for end users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  <a:latin typeface="Calibri"/>
              </a:rPr>
              <a:t>• Need: a system that not only PREDICTS but also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EXPLAINS (why this prediction?)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PRESCRIBES (what to change to reduce stress?)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NATURALIZES (in plain language for non-experts)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1. 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Research Gap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What's missing in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  <a:latin typeface="Calibri"/>
              </a:rPr>
              <a:t>• Gap in literature: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Stress prediction + SHAP — predictive but not prescriptive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DiCE in classification — rarely used for regression with causal constraints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GPT in healthcare — used for summarization, not as ML-output naturalizer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>
                <a:solidFill>
                  <a:srgbClr val="404040"/>
                </a:solidFill>
                <a:latin typeface="Calibri"/>
              </a:rPr>
              <a:t>• Our contributions: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4-stage integrated framework (Predict → Explain → Prescribe → Naturalize)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Causally-restricted counterfactual design (behavior vs outcome vs immutable)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GenAI deployment layer with safety filter + faithfulness validation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– Empirical evidence: 62.5% CF success with 100% plausibility (40 instances)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1. Background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Proposed 4-Stage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End-to-end pipeline from raw data to narrative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468880" cy="22860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1. PREDICT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</a:rPr>
              <a:t>CatBoost
Random Forest
TabNet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04040"/>
                </a:solidFill>
              </a:rPr>
              <a:t>▼ stress_score
(1.0 – 10.0)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44368" y="2834640"/>
            <a:ext cx="320040" cy="365760"/>
          </a:xfrm>
          <a:prstGeom prst="rightArrow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0" y="1828800"/>
            <a:ext cx="2468880" cy="22860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2. EXPLAIN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</a:rPr>
              <a:t>SHAP
Global +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42976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04040"/>
                </a:solidFill>
              </a:rPr>
              <a:t>▼ feature
contributions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79008" y="2834640"/>
            <a:ext cx="320040" cy="365760"/>
          </a:xfrm>
          <a:prstGeom prst="rightArrow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468880" cy="22860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3. PRESCRIBE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</a:rPr>
              <a:t>DiCE
Genetic Algorithm
+ permitted_range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04040"/>
                </a:solidFill>
              </a:rPr>
              <a:t>▼ behavior-only
counterfactuals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13648" y="2834640"/>
            <a:ext cx="320040" cy="365760"/>
          </a:xfrm>
          <a:prstGeom prst="rightArrow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0" y="1828800"/>
            <a:ext cx="2468880" cy="2286000"/>
          </a:xfrm>
          <a:prstGeom prst="round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4. NATURALIZE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</a:rPr>
              <a:t>GPT-4o-mini
+ safety filter
+ faithfulness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2976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04040"/>
                </a:solidFill>
              </a:rPr>
              <a:t>▼ narrative JSON
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C0504D"/>
                </a:solidFill>
              </a:rPr>
              <a:t>Causal restriction: only BEHAVIOR features may change (sleep_duration, screen_time, caffeine, exercise, etc.).
OUTCOME and IMMUTABLE features are locked to preserve causal validity.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5 /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2. Framework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• Sleep Health &amp; Daily Performance Dataset (Kaggle)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100,000 synthetic samples × 32 features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Target: stress_score ∈ [1.0, 10.0]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Working subset: 10,000 stratified by stress_score deciles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• EDA findings: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Mean stress_score ≈ 5.73 (σ ≈ 1.62)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Strongest negative correlation: sleep_quality_score with r = −0.639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• Drop leakage features (4): person_id, cognitive_performance_score,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sleep_disorder_risk, felt_rested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• Two data versions: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A — raw categorical for CatBoost native support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– B — ordinal-encoded + StandardScaler for Random Forest and TabNet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Calibri"/>
              </a:rPr>
              <a:t>• Stratified 70 / 15 / 15 train / validation / test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3.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Models: Training &amp;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Three regression models trained with random_state=42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4389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CatBoost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0.6503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0.9523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0.7584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TabNet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0.6422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0.9633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0.7668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0.6239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0.9876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0.7856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0" y="146304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• CatBoost: 1000 iterations, depth 6, early stopping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• Random Forest: 300 estimators, min_samples_leaf=5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• TabNet: max_epochs 200, batch 1024, patience 20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/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5-Fold Cross-Validation (on CatBoost):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  R² = 0.6266 ± 0.0093 (very stable)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/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Decision: CatBoost selected for SHAP + CF + GenAI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</a:rPr>
              <a:t>  Best test metrics + native categorical support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891540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3. Methodology + 4. Results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SHAP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Global feature importance + domain validity sign-check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• TreeExplainer on CatBoost (2000-sample test subset)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Global summary (bar + beeswarm)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Local waterfall plots × 3 individuals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• Top features by mean |SHAP|: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sleep_quality_score (0.660)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occupation (0.569)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sleep_duration_hrs (0.133)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404040"/>
                </a:solidFill>
                <a:latin typeface="Calibri"/>
              </a:rPr>
              <a:t>• Domain validity (value vs SHAP correlation):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sleep_quality ↓ ⇒ stress ↑: r = −0.996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wake_episodes ↑ ⇒ stress ↑: r = −0.981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heart_rate_resting ↑ ⇒ stress ↑: r = +0.974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Calibri"/>
              </a:rPr>
              <a:t>– → all directional signs match expected domain knowledge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36221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4. Results — SHAP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DiCE Counterfactual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Causal restriction + safety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DiCE genetic algorithm, model_type='regressor'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Feature categories: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BEHAVIOR (varyable): sleep_duration_hrs, screen_time, caffeine,</a:t>
            </a:r>
          </a:p>
          <a:p>
            <a:pPr lvl="2"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404040"/>
                </a:solidFill>
                <a:latin typeface="Calibri"/>
              </a:rPr>
              <a:t>– alcohol, exercise, steps, nap, room_temp, sleep_aid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OUTCOME (locked): sleep_quality_score, REM%, wake_episodes,</a:t>
            </a:r>
          </a:p>
          <a:p>
            <a:pPr lvl="2"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404040"/>
                </a:solidFill>
                <a:latin typeface="Calibri"/>
              </a:rPr>
              <a:t>– sleep_latency, deep_sleep%, heart_rate_resting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IMMUTABLE (locked): age, gender, occupation, bmi, etc.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permitted_range (safety constraints) — examples: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sleep_duration_hrs ∈ [4.0, 10.0] hours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caffeine_mg_before_bed ∈ [0, 400] mg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alcohol_units_before_bed locked at [0, 0]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steps_that_day ∈ [1000, 15000]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3. Methodology — Prescription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GenAI Naturalization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GPT-4o-mini with safety + faithfulness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Input: SHAP top-5 + counterfactual changes + user profile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Output: structured JSON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summary, drivers, recommendations (action/target/rationale),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encouragement, disclaimer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API config: temperature=0.3, response_format='json_object',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max_tokens=700, system prompt = sleep counselor role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Post-generation validation (3 retry max):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(a) Regex safety filter — block 'obat', 'diagnosa', 'menjamin',</a:t>
            </a:r>
          </a:p>
          <a:p>
            <a:pPr lvl="2"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404040"/>
                </a:solidFill>
                <a:latin typeface="Calibri"/>
              </a:rPr>
              <a:t>– 'mulai minum alkohol', etc.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(b) Faithfulness check — recommendations must reference only</a:t>
            </a:r>
          </a:p>
          <a:p>
            <a:pPr lvl="2"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404040"/>
                </a:solidFill>
                <a:latin typeface="Calibri"/>
              </a:rPr>
              <a:t>– features present in counterfactual; no locked outcome as action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(c) Structural validation of required JSON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3. Methodology — Naturalization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Counterfactual Quality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5852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Plan Target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Validity (when CF found)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≥ 0.80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Proximity (normalized L1)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low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Sparsity (features changed)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2 – 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Diversity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moderate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Plausibility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1.00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Overall success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62.5% (25/40)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≥ 80%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</a:rPr>
              <a:t>Key findings: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25/40 instances produced valid CFs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Success balanced across quartiles (7,6,6,6)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100% plausibility — all CFs within permitted_range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100% validity — every CF reaches target range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Modest mean sparsity (4–5 changes) — reasonable for user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</a:rPr>
              <a:t>Trade-off discussed in Limitations: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62.5% &lt; 80% target reflects causal restriction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Locking outcome features limits prediction shift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404040"/>
                </a:solidFill>
              </a:rPr>
              <a:t>• Future work: 2-stage causal architecture</a:t>
            </a:r>
          </a:p>
        </p:txBody>
      </p:sp>
      <p:pic>
        <p:nvPicPr>
          <p:cNvPr id="5" name="Picture 4" descr="cf_metrics_by_quar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206240"/>
            <a:ext cx="39624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4. Results — Counterfactual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Case Study Narratives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04040"/>
                </a:solidFill>
                <a:latin typeface="Calibri"/>
              </a:rPr>
              <a:t>Three individuals across stress quartiles — all CFs successful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126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914400"/>
                <a:gridCol w="914400"/>
                <a:gridCol w="82296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Pred.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CF Pred.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 Changes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Low 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−0.21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Mid 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4.95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−0.30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High 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8.50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7.21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6.84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−0.38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F4E79"/>
                </a:solidFill>
              </a:rPr>
              <a:t>Example GenAI output for HIGH stress individual: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>  Action 1: Kurangi durasi tidur malam — dari 6.18 jam menjadi 5.61 jam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>  Action 2: Tingkatkan waktu layar sebelum tidur — dari 76 menit menjadi 180 menit (model artifact)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>  Action 3: Hilangkan konsumsi alkohol sebelum tidur — dari 4 unit menjadi 0 unit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>  Action 4: Turunkan suhu ruangan saat tidur — dari 19.6°C menjadi 16.0°C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/>
            </a:r>
          </a:p>
          <a:p>
            <a:pPr>
              <a:lnSpc>
                <a:spcPct val="120000"/>
              </a:lnSpc>
            </a:pPr>
            <a:r>
              <a:rPr sz="1400" b="1">
                <a:solidFill>
                  <a:srgbClr val="1F4E79"/>
                </a:solidFill>
              </a:rPr>
              <a:t>All recommendations passed faithfulness validation (exact numbers, correct direction).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404040"/>
                </a:solidFill>
              </a:rPr>
              <a:t>Faithfulness check flagged 0 locked-outcome features in final outputs.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4. Results — Case Studies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Limitations &amp; Threats to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Synthetic dataset (Kaggle)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Correlations may be data-generation artifacts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Generalization to real populations requires clinical validation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Causal stationarity assumption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DiCE assumes feature changes consistently shift predictions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Not guaranteed on synthetic data → CFs are 'possibilities', not 'guarantees'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GenAI evaluation scope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Limited to structure + safety regex + basic faithfulness check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No user study, expert panel, or NLI-based automated scoring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Reproducibility bound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random_state=42 used, but DiCE genetic &amp; GPT temperature=0.3 introduce variance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Counterfactual effect size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Behavior-only CFs yield ~0.3 point reductions — modest but causally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5. Limitations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Two-stage causal architecture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Stage 1: behavior → physiological outcome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Stage 2: outcome → stress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Enables indirect-effect estimation through outcomes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Automated faithfulness scoring for GenAI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NLI-based entailment between CF facts and GPT narrative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Real-world validation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Wearable sensor data + self-report longitudinal study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IRB approval + clinical partnership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User study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Measure perceived usefulness &amp; clarity of GenAI recommendations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A/B test: technical CF vs naturalized recommendation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• Interactive conversational interface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Chat-based intervention with follow-up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6. Future Work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4E79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Proposed end-to-end framework integrating four stages: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Prediction → Explanation → Prescription → Naturalization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Empirical evidence: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CatBoost R² = 0.6503, MAE = 0.7584, CV = 0.6266 ± 0.0093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SHAP domain validity verified (top correlation = −0.996)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Counterfactual success rate = 62.5%, plausibility = 100%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GenAI naturalization successful for all 3 case studies</a:t>
            </a:r>
          </a:p>
          <a:p>
            <a:pPr lvl="2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Calibri"/>
              </a:rPr>
              <a:t>– with safety + faithfulness validation passing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Contribution: a complete, causally-aware, safety-validated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prescriptive ML pipeline ready for further validation</a:t>
            </a:r>
          </a:p>
          <a:p>
            <a:pPr lvl="1">
              <a:lnSpc>
                <a:spcPct val="120000"/>
              </a:lnSpc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Calibri"/>
              </a:rPr>
              <a:t>– in clinical / wearable / longitudinal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C0504D"/>
                </a:solidFill>
              </a:rP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04040"/>
                </a:solidFill>
              </a:rPr>
              <a:t>7. 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