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Selamat pagi/siang/sore Bapak/Ibu juri dan rekan-rekan sekalian.</a:t>
            </a:r>
          </a:p>
          <a:p>
            <a:r>
              <a:rPr sz="1100"/>
              <a:t>Perkenalkan, kami dari Master Program Informatika, Fakultas Teknologi Elektro dan Informatika Cerdas, Institut Teknologi Sepuluh Nopember Surabaya.</a:t>
            </a:r>
          </a:p>
          <a:p>
            <a:r>
              <a:rPr sz="1100"/>
              <a:t>Hari ini kami akan mempresentasikan penelitian kami yang berjudul "Explainable Machine Learning with Counterfactual Analysis and GenAI Naturalization for Stress Prediction and Intervention Using Sleep and Lifestyle Data".</a:t>
            </a:r>
          </a:p>
          <a:p>
            <a:r>
              <a:rPr sz="1100"/>
              <a:t>Penelitian ini mengintegrasikan empat tahap: prediksi stres, penjelasan model, rekomendasi intervensi, dan naturalisasi hasil dalam bahasa awam.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Presentasi ini saya bagi ke beberapa bagian.</a:t>
            </a:r>
          </a:p>
          <a:p>
            <a:r>
              <a:rPr sz="1100"/>
              <a:t>Mulai dari latar belakang dan motivasi, lalu gap penelitian dan kontribusi yang kami tawarkan. Kemudian saya jelaskan framework 4-tahap yang kami usulkan beserta dataset dan metodologi setiap tahapnya.</a:t>
            </a:r>
          </a:p>
          <a:p>
            <a:r>
              <a:rPr sz="1100"/>
              <a:t>Setelah itu masuk ke hasil — performa model, analisis SHAP, kualitas counterfactual, dan tiga studi kasus individu. Diakhiri dengan keterbatasan, arah ke depan, dan kesimpulan.</a:t>
            </a:r>
          </a:p>
          <a:p>
            <a:r>
              <a:rPr sz="1100"/>
              <a:t>Total estimasi waktu sekitar 15 menit, sisa untuk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Stres mental adalah salah satu masalah kesehatan modern yang paling pelik. Dipengaruhi banyak faktor — tekanan kerja, pola tidur, aktivitas fisik, kondisi kesehatan, hingga kebiasaan digital seperti screen time sebelum tidur.</a:t>
            </a:r>
          </a:p>
          <a:p>
            <a:r>
              <a:rPr sz="1100"/>
              <a:t>Dengan tersedianya data lifestyle dan health, machine learning bisa memprediksi tingkat stres dari pola tersebut. Tapi masalahnya, kebanyakan model black-box — akurat tapi tidak menjelaskan kenapa.</a:t>
            </a:r>
          </a:p>
          <a:p>
            <a:r>
              <a:rPr sz="1100"/>
              <a:t>Meski SHAP atau LIME bisa memberi explanation, outputnya tetap teknis — nilai SHAP, feature importance — sulit dipahami pengguna awam.</a:t>
            </a:r>
          </a:p>
          <a:p>
            <a:r>
              <a:rPr sz="1100"/>
              <a:t>Yang kami butuhkan adalah sistem yang tidak hanya MEMPREDIKSI, tapi juga MENJELASKAN penyebabnya, MEMBERI SARAN konkret untuk diubah, dan MENATURALISASI semua itu ke bahasa awam yang mudah dipahami.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Di literatur sebelumnya, prediksi stres dan SHAP umumnya sudah ada — tapi belum prescriptive, tidak ada rekomendasi konkret.</a:t>
            </a:r>
          </a:p>
          <a:p>
            <a:r>
              <a:rPr sz="1100"/>
              <a:t>DiCE counterfactual juga sudah populer, tapi kebanyakan untuk klasifikasi seperti loan approval. Penggunaan untuk regression dengan constraint kausal yang strict belum banyak.</a:t>
            </a:r>
          </a:p>
          <a:p>
            <a:r>
              <a:rPr sz="1100"/>
              <a:t>GenAI di healthcare biasanya untuk summarization atau patient education. Belum ada yang menggunakan GPT sebagai NATURALISER output ML khususnya counterfactual.</a:t>
            </a:r>
          </a:p>
          <a:p>
            <a:r>
              <a:rPr sz="1100"/>
              <a:t>Kontribusi kami: pertama, framework 4-tahap terintegrasi. Kedua, design counterfactual yang causally restricted — memisahkan behavior, outcome, dan immutable. Ketiga, layer GenAI dengan safety filter dan faithfulness validation. Keempat, bukti empiris — 62.5 persen CF success rate dengan 100 persen plausibility pada 40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Ini gambaran umum framework yang kami usulkan, mengalir dari kiri ke kanan.</a:t>
            </a:r>
          </a:p>
          <a:p>
            <a:r>
              <a:rPr sz="1100"/>
              <a:t>Tahap pertama PREDICT: tiga regression model — CatBoost, Random Forest, dan TabNet — memprediksi stress_score di rentang 1.0 sampai 10.0.</a:t>
            </a:r>
          </a:p>
          <a:p>
            <a:r>
              <a:rPr sz="1100"/>
              <a:t>Tahap kedua EXPLAIN: SHAP TreeExplainer memberi penjelasan global maupun lokal — fitur mana yang paling berkontribusi terhadap prediksi.</a:t>
            </a:r>
          </a:p>
          <a:p>
            <a:r>
              <a:rPr sz="1100"/>
              <a:t>Tahap ketiga PRESCRIBE: DiCE generate counterfactual — yaitu perubahan minimal pada fitur yang akan menurunkan prediksi stress. Penting di sini: hanya fitur BEHAVIOR yang boleh diubah. Outcome dan immutable di-lock.</a:t>
            </a:r>
          </a:p>
          <a:p>
            <a:r>
              <a:rPr sz="1100"/>
              <a:t>Tahap keempat NATURALIZE: GPT-4o-mini mengubah angka teknis dari counterfactual menjadi narasi JSON terstruktur dalam Bahasa Indonesia, dengan safety filter dan faithfulness validation.</a:t>
            </a:r>
          </a:p>
          <a:p>
            <a:r>
              <a:rPr sz="1100"/>
              <a:t>Catatan di bawah penting: restriksi causal inilah yang menjamin rekomendasi kami benar-benar actionable, bukan sekadar "ubah outcome Anda" yang tidak ada caranya.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Dataset yang kami pakai adalah Sleep Health &amp; Daily Performance Dataset dari Kaggle. 100 ribu sampel sintetis, 32 fitur, mencakup pola tidur, lifestyle, kesehatan, dan aktivitas harian.</a:t>
            </a:r>
          </a:p>
          <a:p>
            <a:r>
              <a:rPr sz="1100"/>
              <a:t>Untuk iterasi kami pakai stratified sample 10 ribu berdasarkan desil stress_score. Pipeline tetap bisa scale ke 100k penuh.</a:t>
            </a:r>
          </a:p>
          <a:p>
            <a:r>
              <a:rPr sz="1100"/>
              <a:t>EDA mengkonfirmasi: rata-rata stress_score 5.73, standar deviasi 1.62. Korelasi negatif paling kuat adalah sleep_quality_score dengan r = -0.639 — ini sesuai ekspektasi domain.</a:t>
            </a:r>
          </a:p>
          <a:p>
            <a:r>
              <a:rPr sz="1100"/>
              <a:t>Kami drop 4 fitur leakage: person_id, cognitive_performance_score, sleep_disorder_risk, dan felt_rested. Semua co-outcome atau langsung mengindikasikan label.</a:t>
            </a:r>
          </a:p>
          <a:p>
            <a:r>
              <a:rPr sz="1100"/>
              <a:t>Kami siapkan dua versi data: Versi A untuk CatBoost yang native handle kategorikal, dan Versi B dengan ordinal encoding plus StandardScaler untuk Random Forest dan TabNet.</a:t>
            </a:r>
          </a:p>
          <a:p>
            <a:r>
              <a:rPr sz="1100"/>
              <a:t>Split stratified 70/15/15 untuk train/validation/test berdasarkan desil stress_score.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Kami train tiga model regresi.</a:t>
            </a:r>
          </a:p>
          <a:p>
            <a:r>
              <a:rPr sz="1100"/>
              <a:t>CatBoost dengan 1000 iterasi, depth 6, early stopping. Random Forest 300 estimators. TabNet up to 200 epochs.</a:t>
            </a:r>
          </a:p>
          <a:p>
            <a:r>
              <a:rPr sz="1100"/>
              <a:t>Hasilnya: CatBoost menang di semua metric — R² 0.6503, RMSE 0.9523, MAE 0.7584. TabNet kedua dengan R² 0.6422, tipis di belakang. Random Forest ketiga di R² 0.6239.</a:t>
            </a:r>
          </a:p>
          <a:p>
            <a:r>
              <a:rPr sz="1100"/>
              <a:t>Yang menarik: gap antara dua teratas sangat kecil — gradient boosting dan attention-based deep learning sama-sama viable untuk task tabular regression ini.</a:t>
            </a:r>
          </a:p>
          <a:p>
            <a:r>
              <a:rPr sz="1100"/>
              <a:t>5-Fold Cross-Validation pada CatBoost: R² 0.6266 ± 0.0093. Variansi sangat kecil, menunjukkan model sangat stabil — tidak overfit ke fold tertentu.</a:t>
            </a:r>
          </a:p>
          <a:p>
            <a:r>
              <a:rPr sz="1100"/>
              <a:t>Untuk tahap berikutnya — SHAP, CF, GenAI — kami pakai CatBoost karena performa terbaik plus native support untuk fitur kategorikal yang menyederhanakan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SHAP TreeExplainer kami aplikasikan pada CatBoost dengan 2000 sample test.</a:t>
            </a:r>
          </a:p>
          <a:p>
            <a:r>
              <a:rPr sz="1100"/>
              <a:t>Top fitur global: sleep_quality_score paling dominan dengan mean SHAP 0.66, lalu occupation 0.57, kemudian sleep_duration_hrs 0.13. Sisanya di bawah 0.10.</a:t>
            </a:r>
          </a:p>
          <a:p>
            <a:r>
              <a:rPr sz="1100"/>
              <a:t>Yang penting adalah DOMAIN VALIDITY sign-check yang kami lakukan. Untuk top fitur numerik, kami hitung korelasi antara nilai fitur dengan SHAP contribution-nya.</a:t>
            </a:r>
          </a:p>
          <a:p>
            <a:r>
              <a:rPr sz="1100"/>
              <a:t>Hasilnya menakjubkan: sleep_quality_score korelasi -0.996. Artinya hampir SEMPURNA — semakin tinggi sleep quality, semakin rendah kontribusi SHAP ke prediksi stress. Persis sesuai ekspektasi domain.</a:t>
            </a:r>
          </a:p>
          <a:p>
            <a:r>
              <a:rPr sz="1100"/>
              <a:t>Wake_episodes -0.981, alcohol -0.977, deep_sleep -0.963. Heart rate positif +0.974 — sesuai bahwa resting HR tinggi adalah indikator stres.</a:t>
            </a:r>
          </a:p>
          <a:p>
            <a:r>
              <a:rPr sz="1100"/>
              <a:t>Sign-check ini meyakinkan bahwa model tidak belajar spurious pattern, tapi pola yang konsisten dengan sleep medicine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DiCE kami konfigurasi dengan genetic algorithm karena lebih robust dari random method untuk regression dengan desired range.</a:t>
            </a:r>
          </a:p>
          <a:p>
            <a:r>
              <a:rPr sz="1100"/>
              <a:t>Fitur kami kelompokkan menjadi tiga kategori yang sangat penting untuk causal validity.</a:t>
            </a:r>
          </a:p>
          <a:p>
            <a:r>
              <a:rPr sz="1100"/>
              <a:t>BEHAVIOR — yang boleh diubah counterfactual — adalah fitur yang bisa dimanipulasi langsung oleh pengguna: durasi tidur, screen time, kafein, alkohol, exercise, langkah, nap, suhu ruangan, dan sleep aid.</a:t>
            </a:r>
          </a:p>
          <a:p>
            <a:r>
              <a:rPr sz="1100"/>
              <a:t>OUTCOME — tidak boleh diubah — adalah fitur fisiologis yang merupakan gejala, bukan kausa: sleep quality score, REM percentage, wake episodes, sleep latency, deep sleep, resting heart rate.</a:t>
            </a:r>
          </a:p>
          <a:p>
            <a:r>
              <a:rPr sz="1100"/>
              <a:t>IMMUTABLE — atribut statis: usia, gender, occupation, BMI, dan sebagainya.</a:t>
            </a:r>
          </a:p>
          <a:p>
            <a:r>
              <a:rPr sz="1100"/>
              <a:t>Permitted range explicit per fitur untuk safety. Yang penting: alcohol_units di-lock di [0,0] supaya DiCE tidak pernah merekomendasikan konsumsi alkohol. Sleep duration dibatasi [4, 10] jam. Caffeine maksimal 400mg, sesuai FDA.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Tahap terakhir adalah naturalisasi pakai GPT-4o-mini.</a:t>
            </a:r>
          </a:p>
          <a:p>
            <a:r>
              <a:rPr sz="1100"/>
              <a:t>Input GPT: top-5 fitur SHAP, perubahan counterfactual, dan profil pengguna. Output: JSON terstruktur dengan 5 field — summary, drivers, recommendations dengan action/target/rationale, encouragement, dan disclaimer.</a:t>
            </a:r>
          </a:p>
          <a:p>
            <a:r>
              <a:rPr sz="1100"/>
              <a:t>API call dengan temperature 0.3 untuk determinism, response_format JSON object untuk parsing reliable.</a:t>
            </a:r>
          </a:p>
          <a:p>
            <a:r>
              <a:rPr sz="1100"/>
              <a:t>Yang krusial: 3 layer validasi post-generation dengan max 3 retry.</a:t>
            </a:r>
          </a:p>
          <a:p>
            <a:r>
              <a:rPr sz="1100"/>
              <a:t>Layer A: safety filter regex — blokir kata "obat", "diagnosa", "menjamin", "mulai minum alkohol", dan sejenisnya.</a:t>
            </a:r>
          </a:p>
          <a:p>
            <a:r>
              <a:rPr sz="1100"/>
              <a:t>Layer B: faithfulness check — yang ini novel. Recommendations harus mention angka EXACT dari counterfactual, dan tidak boleh suggest perubahan pada locked outcome features.</a:t>
            </a:r>
          </a:p>
          <a:p>
            <a:r>
              <a:rPr sz="1100"/>
              <a:t>Layer C: structural validation — semua required keys harus ada.</a:t>
            </a:r>
          </a:p>
          <a:p>
            <a:r>
              <a:rPr sz="1100"/>
              <a:t>Output yang gagal retry sampai 3x sebelum fallback ke dummy.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Hasil evaluasi CF pada 40 test instance, 10 per stress quartile.</a:t>
            </a:r>
          </a:p>
          <a:p>
            <a:r>
              <a:rPr sz="1100"/>
              <a:t>Dari 40 instance, 25 berhasil generate CF valid — 62.5 persen success rate. Yang berhasil, semuanya 100 persen valid (memang reach target range), dan 100 persen plausible (dalam permitted_range).</a:t>
            </a:r>
          </a:p>
          <a:p>
            <a:r>
              <a:rPr sz="1100"/>
              <a:t>Mean proximity 0.226 — relatif rendah, artinya CF tidak terlalu jauh dari original. Sparsity 4.65 — sekitar 4-5 fitur diubah per CF, masih masuk akal untuk pengguna.</a:t>
            </a:r>
          </a:p>
          <a:p>
            <a:r>
              <a:rPr sz="1100"/>
              <a:t>Success balanced antar quartile: 7, 6, 6, 6. Tidak biased ke level stress tertentu.</a:t>
            </a:r>
          </a:p>
          <a:p>
            <a:r>
              <a:rPr sz="1100"/>
              <a:t>Yang harus saya disclose: 62.5 persen memang di bawah target awal 80 persen. Ini bukan kegagalan, melainkan KONSEKUENSI dari restriksi causal kami. Karena kami lock outcome features, model hanya punya behavior features untuk digeser — yang impact-nya memang lebih kecil.</a:t>
            </a:r>
          </a:p>
          <a:p>
            <a:r>
              <a:rPr sz="1100"/>
              <a:t>Ini adalah trade-off yang kami diskusi di limitations: causal validity vs success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Tiga individu dipilih sebagai case study berdasarkan stress_score actual: low ~3, mid ~6, high ~8.5.</a:t>
            </a:r>
          </a:p>
          <a:p>
            <a:r>
              <a:rPr sz="1100"/>
              <a:t>Semua tiga berhasil dapat CF dengan delta yang meaningful: -0.21 untuk low stress, -0.30 untuk mid, dan -0.38 untuk high.</a:t>
            </a:r>
          </a:p>
          <a:p>
            <a:r>
              <a:rPr sz="1100"/>
              <a:t>Contoh output GenAI untuk HIGH stress case sangat menarik.</a:t>
            </a:r>
          </a:p>
          <a:p>
            <a:r>
              <a:rPr sz="1100"/>
              <a:t>Action 1: kurangi durasi tidur — ini counter-intuitif domain tapi sesuai output DiCE. Honest reporting.</a:t>
            </a:r>
          </a:p>
          <a:p>
            <a:r>
              <a:rPr sz="1100"/>
              <a:t>Action 2: tingkatkan screen time — ini artifact model yang sebenarnya harus dibahas di limitation, karena tidak align dengan medical knowledge. Ini bukti perlunya domain expert review.</a:t>
            </a:r>
          </a:p>
          <a:p>
            <a:r>
              <a:rPr sz="1100"/>
              <a:t>Action 3: hilangkan alkohol dari 4 unit menjadi 0 — ini intervention yang sangat valid dan klinis benar.</a:t>
            </a:r>
          </a:p>
          <a:p>
            <a:r>
              <a:rPr sz="1100"/>
              <a:t>Action 4: turunkan suhu ruangan — masuk akal untuk kualitas tidur.</a:t>
            </a:r>
          </a:p>
          <a:p>
            <a:r>
              <a:rPr sz="1100"/>
              <a:t>Yang penting: semua rekomendasi PASS faithfulness validation — angka exact match dengan CF, arah verb benar, tidak ada feature locked yang muncul sebagai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Kami harus jujur soal keterbatasan.</a:t>
            </a:r>
          </a:p>
          <a:p>
            <a:r>
              <a:rPr sz="1100"/>
              <a:t>Pertama dan paling penting: dataset SINTETIS, bukan dari subjek manusia nyata. Korelasi yang kami temukan bisa jadi artifact generator data. Untuk generalisasi ke populasi klinis, perlu validasi data real.</a:t>
            </a:r>
          </a:p>
          <a:p>
            <a:r>
              <a:rPr sz="1100"/>
              <a:t>Kedua: DiCE mengasumsikan causal stationarity. Pada data sintetis, asumsi ini tidak terjamin. Rekomendasi kami sebaiknya dipahami sebagai "kemungkinan" di bawah model yang dipelajari, bukan "kepastian" causal.</a:t>
            </a:r>
          </a:p>
          <a:p>
            <a:r>
              <a:rPr sz="1100"/>
              <a:t>Ketiga: evaluasi GenAI terbatas. Hanya structural validation, safety regex, dan basic faithfulness check. Tidak ada user study, expert panel, atau automated NLI-based scoring.</a:t>
            </a:r>
          </a:p>
          <a:p>
            <a:r>
              <a:rPr sz="1100"/>
              <a:t>Keempat: reproducibility ada bound-nya — DiCE genetic stokastik, GPT probabilistik. Meski random state dan temperature di-fix, variasi minor mungkin terjadi.</a:t>
            </a:r>
          </a:p>
          <a:p>
            <a:r>
              <a:rPr sz="1100"/>
              <a:t>Kelima: effect size modest — sekitar 0.3 poin per CF. Untuk substantial reduction, mungkin perlu intervensi via outcome physiological, bukan hanya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Lima arah ke depan.</a:t>
            </a:r>
          </a:p>
          <a:p>
            <a:r>
              <a:rPr sz="1100"/>
              <a:t>Pertama, two-stage causal architecture. Stage 1 prediksi outcome dari behavior, Stage 2 prediksi stress dari outcome. Ini bisa capture indirect effect yang behavior-only tidak bisa.</a:t>
            </a:r>
          </a:p>
          <a:p>
            <a:r>
              <a:rPr sz="1100"/>
              <a:t>Kedua, automated faithfulness scoring untuk GenAI menggunakan NLI-based entailment check antara CF facts dan GPT narrative. Lebih rigorous dari regex.</a:t>
            </a:r>
          </a:p>
          <a:p>
            <a:r>
              <a:rPr sz="1100"/>
              <a:t>Ketiga, validasi data nyata. Wearable sensor + self-report longitudinal study dengan IRB approval dan kerjasama klinis.</a:t>
            </a:r>
          </a:p>
          <a:p>
            <a:r>
              <a:rPr sz="1100"/>
              <a:t>Keempat, user study — A/B test antara teknis CF vs naturalized recommendation untuk mengukur perceived usefulness dan clarity.</a:t>
            </a:r>
          </a:p>
          <a:p>
            <a:r>
              <a:rPr sz="1100"/>
              <a:t>Kelima, integrasi dengan conversational interface — chat-based intervention dengan follow-up questions, bukan one-shot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Kesimpulan.</a:t>
            </a:r>
          </a:p>
          <a:p>
            <a:r>
              <a:rPr sz="1100"/>
              <a:t>Kami berhasil membangun framework end-to-end yang mengintegrasikan empat tahap: prediksi, explanation, prescription, dan naturalization.</a:t>
            </a:r>
          </a:p>
          <a:p>
            <a:r>
              <a:rPr sz="1100"/>
              <a:t>Bukti empiris dari penelitian: CatBoost R² 0.6503, MAE 0.7584, dan 5-Fold CV 0.6266 dengan variansi sangat kecil. SHAP domain validity teruji dengan korelasi -0.996. Counterfactual success 62.5 persen, plausibility 100 persen. GenAI naturalisasi sukses untuk semua tiga case study dengan safety dan faithfulness validation pass.</a:t>
            </a:r>
          </a:p>
          <a:p>
            <a:r>
              <a:rPr sz="1100"/>
              <a:t>Kontribusi utama: pipeline prescriptive ML yang lengkap, causally aware, dan safety validated — siap untuk validasi lanjutan di setting klinis, wearable, atau longitudinal.</a:t>
            </a:r>
          </a:p>
          <a:p>
            <a:r>
              <a:rPr sz="1100"/>
              <a:t>Terima kasih atas perhatiannya, dan kami terbuka untuk pertanyaan atau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Calibri"/>
              </a:rPr>
              <a:t>Explainable Machine Learning with Counterfactual Analysis
and GenAI Naturalization for Stress Prediction and Intervention
Using Sleep and Lifestyle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7286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404040"/>
                </a:solidFill>
              </a:rPr>
              <a:t>Ananta Dwi </a:t>
            </a:r>
            <a:r>
              <a:rPr sz="2000" dirty="0" err="1">
                <a:solidFill>
                  <a:srgbClr val="404040"/>
                </a:solidFill>
              </a:rPr>
              <a:t>Prayoga</a:t>
            </a:r>
            <a:r>
              <a:rPr sz="2000" dirty="0">
                <a:solidFill>
                  <a:srgbClr val="404040"/>
                </a:solidFill>
              </a:rPr>
              <a:t> </a:t>
            </a:r>
            <a:r>
              <a:rPr sz="2000" dirty="0" err="1">
                <a:solidFill>
                  <a:srgbClr val="404040"/>
                </a:solidFill>
              </a:rPr>
              <a:t>Alwy</a:t>
            </a:r>
            <a:r>
              <a:rPr sz="2000" dirty="0">
                <a:solidFill>
                  <a:srgbClr val="404040"/>
                </a:solidFill>
              </a:rPr>
              <a:t>, </a:t>
            </a:r>
            <a:r>
              <a:rPr sz="2000" dirty="0" err="1">
                <a:solidFill>
                  <a:srgbClr val="404040"/>
                </a:solidFill>
              </a:rPr>
              <a:t>Dhayu</a:t>
            </a:r>
            <a:r>
              <a:rPr sz="2000" dirty="0">
                <a:solidFill>
                  <a:srgbClr val="404040"/>
                </a:solidFill>
              </a:rPr>
              <a:t> Intan </a:t>
            </a:r>
            <a:r>
              <a:rPr sz="2000" dirty="0" err="1">
                <a:solidFill>
                  <a:srgbClr val="404040"/>
                </a:solidFill>
              </a:rPr>
              <a:t>Nareswari</a:t>
            </a:r>
            <a:r>
              <a:rPr sz="2000" dirty="0">
                <a:solidFill>
                  <a:srgbClr val="404040"/>
                </a:solidFill>
              </a:rPr>
              <a:t>,
Obi </a:t>
            </a:r>
            <a:r>
              <a:rPr sz="2000" dirty="0" err="1">
                <a:solidFill>
                  <a:srgbClr val="404040"/>
                </a:solidFill>
              </a:rPr>
              <a:t>Kastanya</a:t>
            </a:r>
            <a:r>
              <a:rPr lang="en-US" sz="2000" dirty="0">
                <a:solidFill>
                  <a:srgbClr val="404040"/>
                </a:solidFill>
              </a:rPr>
              <a:t>,</a:t>
            </a:r>
            <a:r>
              <a:rPr lang="en-ID" sz="2000" dirty="0">
                <a:solidFill>
                  <a:srgbClr val="404040"/>
                </a:solidFill>
              </a:rPr>
              <a:t> Mahathir Muhammad</a:t>
            </a:r>
            <a:endParaRPr sz="2000" dirty="0">
              <a:solidFill>
                <a:srgbClr val="404040"/>
              </a:solidFill>
            </a:endParaRPr>
          </a:p>
          <a:p>
            <a:pPr algn="ctr">
              <a:spcBef>
                <a:spcPts val="1200"/>
              </a:spcBef>
            </a:pPr>
            <a:r>
              <a:rPr sz="1400" i="1" dirty="0">
                <a:solidFill>
                  <a:srgbClr val="404040"/>
                </a:solidFill>
              </a:rPr>
              <a:t>Department of Informatics
Faculty of Intelligent Electrical and Informatics Technology
</a:t>
            </a:r>
            <a:r>
              <a:rPr sz="1400" i="1" dirty="0" err="1">
                <a:solidFill>
                  <a:srgbClr val="404040"/>
                </a:solidFill>
              </a:rPr>
              <a:t>Institut</a:t>
            </a:r>
            <a:r>
              <a:rPr sz="1400" i="1" dirty="0">
                <a:solidFill>
                  <a:srgbClr val="404040"/>
                </a:solidFill>
              </a:rPr>
              <a:t> </a:t>
            </a:r>
            <a:r>
              <a:rPr sz="1400" i="1" dirty="0" err="1">
                <a:solidFill>
                  <a:srgbClr val="404040"/>
                </a:solidFill>
              </a:rPr>
              <a:t>Teknologi</a:t>
            </a:r>
            <a:r>
              <a:rPr sz="1400" i="1" dirty="0">
                <a:solidFill>
                  <a:srgbClr val="404040"/>
                </a:solidFill>
              </a:rPr>
              <a:t> </a:t>
            </a:r>
            <a:r>
              <a:rPr sz="1400" i="1" dirty="0" err="1">
                <a:solidFill>
                  <a:srgbClr val="404040"/>
                </a:solidFill>
              </a:rPr>
              <a:t>Sepuluh</a:t>
            </a:r>
            <a:r>
              <a:rPr sz="1400" i="1" dirty="0">
                <a:solidFill>
                  <a:srgbClr val="404040"/>
                </a:solidFill>
              </a:rPr>
              <a:t> </a:t>
            </a:r>
            <a:r>
              <a:rPr sz="1400" i="1" dirty="0" err="1">
                <a:solidFill>
                  <a:srgbClr val="404040"/>
                </a:solidFill>
              </a:rPr>
              <a:t>Nopember</a:t>
            </a:r>
            <a:r>
              <a:rPr sz="1400" i="1" dirty="0">
                <a:solidFill>
                  <a:srgbClr val="404040"/>
                </a:solidFill>
              </a:rPr>
              <a:t>, Surabaya,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Stress Prediction with Explainable ML + Counterfactual +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Background &amp; Motivation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Research Gap &amp; Contributions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Proposed 4-Stage Framework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Dataset &amp; Preprocessing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Methodology — Prediction, Explanation, Prescription, Naturalization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Results — Model Performance, SHAP, Counterfactual, GenAI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Case Studies (Low / Mid / High Stress)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Limitations &amp; Future Work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Mental stress is a major modern health concern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Influenced by sleep, lifestyle, work pressure, digital habits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Increasingly trackable via wearables and self-report data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ML models can predict stress score from such data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But: most existing models are black-box → no actionable guidance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Even SHAP/LIME explanations remain too technical for end users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Need: a system that not only PREDICTS but also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EXPLAINS (why this prediction?)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PRESCRIBES (what to change to reduce stress?)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NATURALIZES (in plain language for non-experts)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1.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Research Gap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What's missing in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Gap in literature: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Stress prediction + SHAP — predictive but not prescriptive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DiCE in classification — rarely used for regression with causal constraints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GPT in healthcare — used for summarization, not as ML-output naturalizer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Our contributions: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4-stage integrated framework (Predict → Explain → Prescribe → Naturalize)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Causally-restricted counterfactual design (behavior vs outcome vs immutable)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GenAI deployment layer with safety filter + faithfulness validation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Empirical evidence: 62.5% CF success with 100% plausibility (40 instances)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1.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Proposed 4-Stage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End-to-end pipeline from raw data to narrative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4688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1. PREDICT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</a:rPr>
              <a:t>CatBoost
Random Forest
TabNet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04040"/>
                </a:solidFill>
              </a:rPr>
              <a:t>▼ stress_score
(1.0 – 10.0)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2834640"/>
            <a:ext cx="320040" cy="365760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468880" cy="22860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2. EXPLAIN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</a:rPr>
              <a:t>SHAP
Global +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04040"/>
                </a:solidFill>
              </a:rPr>
              <a:t>▼ feature
contributions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79008" y="2834640"/>
            <a:ext cx="320040" cy="365760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3. PRESCRIBE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</a:rPr>
              <a:t>DiCE
Genetic Algorithm
+ permitted_range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04040"/>
                </a:solidFill>
              </a:rPr>
              <a:t>▼ behavior-only
counterfactuals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13648" y="2834640"/>
            <a:ext cx="320040" cy="365760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468880" cy="22860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4. NATURALIZE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</a:rPr>
              <a:t>GPT-4o-mini
+ safety filter
+ faithfulness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04040"/>
                </a:solidFill>
              </a:rPr>
              <a:t>▼ narrative JSON
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C0504D"/>
                </a:solidFill>
              </a:rPr>
              <a:t>Causal restriction: only BEHAVIOR features may change (sleep_duration, screen_time, caffeine, exercise, etc.).
OUTCOME and IMMUTABLE features are locked to preserve causal validity.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5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2.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Sleep Health &amp; Daily Performance Dataset (Kaggle)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100,000 synthetic samples × 32 features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Target: stress_score ∈ [1.0, 10.0]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Working subset: 10,000 stratified by stress_score deciles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EDA findings: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Mean stress_score ≈ 5.73 (σ ≈ 1.62)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Strongest negative correlation: sleep_quality_score with r = −0.639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Drop leakage features (4): person_id, cognitive_performance_score,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sleep_disorder_risk, felt_rested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Two data versions: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A — raw categorical for CatBoost native support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B — ordinal-encoded + StandardScaler for Random Forest and TabNet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Stratified 70 / 15 / 15 train / validation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3.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Models: Training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Three regression models trained with random_state=42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389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0.9523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0.7584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0.6422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0.9633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0.7668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0.6239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0.9876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0.7856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4630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• CatBoost: 1000 iterations, depth 6, early stopping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• Random Forest: 300 estimators, min_samples_leaf=5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• TabNet: max_epochs 200, batch 1024, patience 20</a:t>
            </a:r>
          </a:p>
          <a:p>
            <a:pPr>
              <a:lnSpc>
                <a:spcPct val="120000"/>
              </a:lnSpc>
            </a:pPr>
            <a:endParaRPr sz="1500">
              <a:solidFill>
                <a:srgbClr val="404040"/>
              </a:solidFill>
            </a:endParaRP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5-Fold Cross-Validation (on CatBoost):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  R² = 0.6266 ± 0.0093 (very stable)</a:t>
            </a:r>
          </a:p>
          <a:p>
            <a:pPr>
              <a:lnSpc>
                <a:spcPct val="120000"/>
              </a:lnSpc>
            </a:pPr>
            <a:endParaRPr sz="1500">
              <a:solidFill>
                <a:srgbClr val="404040"/>
              </a:solidFill>
            </a:endParaRP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Decision: CatBoost selected for SHAP + CF + GenAI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</a:rPr>
              <a:t>  Best test metrics + native categorical support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114800"/>
            <a:ext cx="89154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3. Methodology + 4.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SHAP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Global feature importance + domain validity sign-check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4364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404040"/>
                </a:solidFill>
                <a:latin typeface="Calibri"/>
              </a:rPr>
              <a:t>TreeExplainer</a:t>
            </a:r>
            <a:r>
              <a:rPr sz="1400" dirty="0">
                <a:solidFill>
                  <a:srgbClr val="404040"/>
                </a:solidFill>
                <a:latin typeface="Calibri"/>
              </a:rPr>
              <a:t> on </a:t>
            </a:r>
            <a:r>
              <a:rPr sz="1400" dirty="0" err="1">
                <a:solidFill>
                  <a:srgbClr val="404040"/>
                </a:solidFill>
                <a:latin typeface="Calibri"/>
              </a:rPr>
              <a:t>CatBoost</a:t>
            </a:r>
            <a:r>
              <a:rPr sz="1400" dirty="0">
                <a:solidFill>
                  <a:srgbClr val="404040"/>
                </a:solidFill>
                <a:latin typeface="Calibri"/>
              </a:rPr>
              <a:t> (2000-sample test subset)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Global summary (bar +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beeswarm</a:t>
            </a:r>
            <a:r>
              <a:rPr sz="1200" dirty="0">
                <a:solidFill>
                  <a:srgbClr val="404040"/>
                </a:solidFill>
                <a:latin typeface="Calibri"/>
              </a:rPr>
              <a:t>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Local waterfall plots × 3 individuals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4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404040"/>
                </a:solidFill>
                <a:latin typeface="Calibri"/>
              </a:rPr>
              <a:t>• Top features by mean |SHAP|: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sleep_quality_score</a:t>
            </a:r>
            <a:r>
              <a:rPr sz="1200" dirty="0">
                <a:solidFill>
                  <a:srgbClr val="404040"/>
                </a:solidFill>
                <a:latin typeface="Calibri"/>
              </a:rPr>
              <a:t> (0.660)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occupation (0.569)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sleep_duration_hrs</a:t>
            </a:r>
            <a:r>
              <a:rPr sz="1200" dirty="0">
                <a:solidFill>
                  <a:srgbClr val="404040"/>
                </a:solidFill>
                <a:latin typeface="Calibri"/>
              </a:rPr>
              <a:t> (0.133)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4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404040"/>
                </a:solidFill>
                <a:latin typeface="Calibri"/>
              </a:rPr>
              <a:t>• Domain validity (value vs SHAP correlation):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sleep_quality</a:t>
            </a:r>
            <a:r>
              <a:rPr sz="1200" dirty="0">
                <a:solidFill>
                  <a:srgbClr val="404040"/>
                </a:solidFill>
                <a:latin typeface="Calibri"/>
              </a:rPr>
              <a:t> ↓ ⇒ stress ↑: r = −0.996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wake_episodes</a:t>
            </a:r>
            <a:r>
              <a:rPr sz="1200" dirty="0">
                <a:solidFill>
                  <a:srgbClr val="404040"/>
                </a:solidFill>
                <a:latin typeface="Calibri"/>
              </a:rPr>
              <a:t> ↑ ⇒ stress ↑: r = −0.981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200" dirty="0" err="1">
                <a:solidFill>
                  <a:srgbClr val="404040"/>
                </a:solidFill>
                <a:latin typeface="Calibri"/>
              </a:rPr>
              <a:t>heart_rate_resting</a:t>
            </a:r>
            <a:r>
              <a:rPr sz="1200" dirty="0">
                <a:solidFill>
                  <a:srgbClr val="404040"/>
                </a:solidFill>
                <a:latin typeface="Calibri"/>
              </a:rPr>
              <a:t> ↑ ⇒ stress ↑: r = +0.974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404040"/>
                </a:solidFill>
                <a:latin typeface="Calibri"/>
              </a:rPr>
              <a:t>– → all directional signs match expected domain knowledge</a:t>
            </a:r>
          </a:p>
        </p:txBody>
      </p:sp>
      <p:pic>
        <p:nvPicPr>
          <p:cNvPr id="5" name="Picture 4" descr="shap_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6221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4. Results — SHAP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DiCE Counterfactual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Causal restriction + safety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DiCE</a:t>
            </a:r>
            <a:r>
              <a:rPr sz="1500" dirty="0">
                <a:solidFill>
                  <a:srgbClr val="404040"/>
                </a:solidFill>
                <a:latin typeface="Calibri"/>
              </a:rPr>
              <a:t> genetic algorithm, 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model_type</a:t>
            </a:r>
            <a:r>
              <a:rPr sz="1500" dirty="0">
                <a:solidFill>
                  <a:srgbClr val="404040"/>
                </a:solidFill>
                <a:latin typeface="Calibri"/>
              </a:rPr>
              <a:t>='regressor'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Feature categories: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BEHAVIOR (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varyable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):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sleep_duration_hrs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screen_time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caffeine,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sz="1100" dirty="0">
                <a:solidFill>
                  <a:srgbClr val="404040"/>
                </a:solidFill>
                <a:latin typeface="Calibri"/>
              </a:rPr>
              <a:t>– alcohol, exercise, steps, nap,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room_temp</a:t>
            </a:r>
            <a:r>
              <a:rPr sz="11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sleep_aid</a:t>
            </a:r>
            <a:endParaRPr sz="1100" dirty="0">
              <a:solidFill>
                <a:srgbClr val="404040"/>
              </a:solidFill>
              <a:latin typeface="Calibri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OUTCOME (locked):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sleep_quality_score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REM%,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wake_episodes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sz="11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sleep_latency</a:t>
            </a:r>
            <a:r>
              <a:rPr sz="11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deep_sleep</a:t>
            </a:r>
            <a:r>
              <a:rPr sz="1100" dirty="0">
                <a:solidFill>
                  <a:srgbClr val="404040"/>
                </a:solidFill>
                <a:latin typeface="Calibri"/>
              </a:rPr>
              <a:t>%,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heart_rate_resting</a:t>
            </a:r>
            <a:endParaRPr sz="1100" dirty="0">
              <a:solidFill>
                <a:srgbClr val="404040"/>
              </a:solidFill>
              <a:latin typeface="Calibri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IMMUTABLE (locked): age, gender, occupation,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bmi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etc.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permitted_range</a:t>
            </a:r>
            <a:r>
              <a:rPr sz="1500" dirty="0">
                <a:solidFill>
                  <a:srgbClr val="404040"/>
                </a:solidFill>
                <a:latin typeface="Calibri"/>
              </a:rPr>
              <a:t> (safety constraints) — examples: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sleep_duration_hrs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∈ [4.0, 10.0] hours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caffeine_mg_before_bed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∈ [0, 400] mg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alcohol_units_before_bed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locked at [0, 0]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steps_that_day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∈ [1000, 15000]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3. Methodology — Prescription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GenAI Naturalization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GPT-4o-mini with safety + faithfulness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Input: SHAP top-5 + counterfactual changes + user profile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Output: structured JSON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summary, drivers, recommendations (action/target/rationale),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encouragement, disclaimer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API config: temperature=0.3, 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response_format</a:t>
            </a:r>
            <a:r>
              <a:rPr sz="1500" dirty="0">
                <a:solidFill>
                  <a:srgbClr val="404040"/>
                </a:solidFill>
                <a:latin typeface="Calibri"/>
              </a:rPr>
              <a:t>='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json_object</a:t>
            </a:r>
            <a:r>
              <a:rPr sz="1500" dirty="0">
                <a:solidFill>
                  <a:srgbClr val="404040"/>
                </a:solidFill>
                <a:latin typeface="Calibri"/>
              </a:rPr>
              <a:t>',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max_tokens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=700, system prompt = sleep counselor role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• Post-generation validation (3 retry max):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(a) Regex safety filter — block '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obat</a:t>
            </a:r>
            <a:r>
              <a:rPr sz="1300" dirty="0">
                <a:solidFill>
                  <a:srgbClr val="404040"/>
                </a:solidFill>
                <a:latin typeface="Calibri"/>
              </a:rPr>
              <a:t>', '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diagnosa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', '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menjamin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',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sz="1100" dirty="0">
                <a:solidFill>
                  <a:srgbClr val="404040"/>
                </a:solidFill>
                <a:latin typeface="Calibri"/>
              </a:rPr>
              <a:t>– '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mulai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minum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alkohol</a:t>
            </a:r>
            <a:r>
              <a:rPr sz="1100" dirty="0">
                <a:solidFill>
                  <a:srgbClr val="404040"/>
                </a:solidFill>
                <a:latin typeface="Calibri"/>
              </a:rPr>
              <a:t>', etc.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(b) Faithfulness check — recommendations must reference only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sz="1100" dirty="0">
                <a:solidFill>
                  <a:srgbClr val="404040"/>
                </a:solidFill>
                <a:latin typeface="Calibri"/>
              </a:rPr>
              <a:t>– features present in counterfactual; no locked outcome as action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(c) Structural validation of required JSON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3. Methodology — Naturalization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Counterfactual Quality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Plan 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Validity (when CF found)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≥ 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Proximity (normalized L1)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Sparsity (features changed)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2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Plausibility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Overall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62.5% (25/40)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≥ 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</a:rPr>
              <a:t>Key findings: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25/40 instances produced valid CFs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Success balanced across quartiles (7,6,6,6)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100% plausibility — all CFs within permitted_range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100% validity — every CF reaches target range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Modest mean sparsity (4–5 changes) — reasonable for user</a:t>
            </a:r>
          </a:p>
          <a:p>
            <a:pPr>
              <a:lnSpc>
                <a:spcPct val="115000"/>
              </a:lnSpc>
            </a:pPr>
            <a:endParaRPr sz="1400">
              <a:solidFill>
                <a:srgbClr val="404040"/>
              </a:solidFill>
            </a:endParaRP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</a:rPr>
              <a:t>Trade-off discussed in Limitations: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62.5% &lt; 80% target reflects causal restriction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Locking outcome features limits prediction shift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404040"/>
                </a:solidFill>
              </a:rPr>
              <a:t>• Future work: 2-stage causal architecture</a:t>
            </a:r>
          </a:p>
        </p:txBody>
      </p:sp>
      <p:pic>
        <p:nvPicPr>
          <p:cNvPr id="5" name="Picture 4" descr="cf_metrics_by_quar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206240"/>
            <a:ext cx="39624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4. Results — Counterfactual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Case Study Narratives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Calibri"/>
              </a:rPr>
              <a:t>Three individuals across stress quartiles — all CFs successful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126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Pred.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CF Pred.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 Changes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Low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−0.21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Mid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−0.30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High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−0.38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F4E79"/>
                </a:solidFill>
              </a:rPr>
              <a:t>Example GenAI output for HIGH stress individual: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404040"/>
                </a:solidFill>
              </a:rPr>
              <a:t>  Action 1: Kurangi durasi tidur malam — dari 6.18 jam menjadi 5.61 jam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404040"/>
                </a:solidFill>
              </a:rPr>
              <a:t>  Action 2: Tingkatkan waktu layar sebelum tidur — dari 76 menit menjadi 180 menit (model artifact)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404040"/>
                </a:solidFill>
              </a:rPr>
              <a:t>  Action 3: Hilangkan konsumsi alkohol sebelum tidur — dari 4 unit menjadi 0 unit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404040"/>
                </a:solidFill>
              </a:rPr>
              <a:t>  Action 4: Turunkan suhu ruangan saat tidur — dari 19.6°C menjadi 16.0°C</a:t>
            </a:r>
          </a:p>
          <a:p>
            <a:pPr>
              <a:lnSpc>
                <a:spcPct val="120000"/>
              </a:lnSpc>
            </a:pPr>
            <a:endParaRPr sz="1400">
              <a:solidFill>
                <a:srgbClr val="404040"/>
              </a:solidFill>
            </a:endParaRPr>
          </a:p>
          <a:p>
            <a:pPr>
              <a:lnSpc>
                <a:spcPct val="120000"/>
              </a:lnSpc>
            </a:pPr>
            <a:r>
              <a:rPr sz="1400" b="1">
                <a:solidFill>
                  <a:srgbClr val="1F4E79"/>
                </a:solidFill>
              </a:rPr>
              <a:t>All recommendations passed faithfulness validation (exact numbers, correct direction).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404040"/>
                </a:solidFill>
              </a:rPr>
              <a:t>Faithfulness check flagged 0 locked-outcome features in final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4. Results — Case Studies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Limitations &amp; Threats to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Synthetic dataset (Kaggle)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Correlations may be data-generation artifacts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Generalization to real populations requires clinical validation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Causal stationarity assumption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DiCE assumes feature changes consistently shift predictions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Not guaranteed on synthetic data → CFs are 'possibilities', not 'guarantees'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GenAI evaluation scope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Limited to structure + safety regex + basic faithfulness check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No user study, expert panel, or NLI-based automated scoring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Reproducibility bound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random_state=42 used, but DiCE genetic &amp; GPT temperature=0.3 introduce variance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Counterfactual effect size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Behavior-only CFs yield ~0.3 point reductions — modest but causally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5. Limitations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Two-stage causal architecture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Stage 1: behavior → physiological outcome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Stage 2: outcome → stress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Enables indirect-effect estimation through outcomes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Automated faithfulness scoring for GenAI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NLI-based entailment between CF facts and GPT narrative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Real-world validation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Wearable sensor data + self-report longitudinal study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IRB approval + clinical partnership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User study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Measure perceived usefulness &amp; clarity of GenAI recommendations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A/B test: technical CF vs naturalized recommendation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Interactive conversational interface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– Chat-based intervention with follow-up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6. Future 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4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Proposed end-to-end framework integrating four stages: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Prediction → Explanation → Prescription → Naturalization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7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Empirical evidence: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</a:t>
            </a:r>
            <a:r>
              <a:rPr sz="1500" dirty="0" err="1">
                <a:solidFill>
                  <a:srgbClr val="404040"/>
                </a:solidFill>
                <a:latin typeface="Calibri"/>
              </a:rPr>
              <a:t>CatBoost</a:t>
            </a:r>
            <a:r>
              <a:rPr sz="1500" dirty="0">
                <a:solidFill>
                  <a:srgbClr val="404040"/>
                </a:solidFill>
                <a:latin typeface="Calibri"/>
              </a:rPr>
              <a:t> R² = 0.6503, MAE = 0.7584, CV = 0.6266 ± 0.0093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SHAP domain validity verified (top correlation = −0.996)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Counterfactual success rate = 62.5%, plausibility = 100%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GenAI naturalization successful for all 3 case studies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404040"/>
                </a:solidFill>
                <a:latin typeface="Calibri"/>
              </a:rPr>
              <a:t>– with safety + faithfulness validation passing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70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Contribution: a complete, causally-aware, safety-validated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prescriptive ML pipeline ready for further validation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404040"/>
                </a:solidFill>
                <a:latin typeface="Calibri"/>
              </a:rPr>
              <a:t>– in clinical / wearable / longitudinal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04040"/>
                </a:solidFill>
              </a:rPr>
              <a:t>7.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1785</Words>
  <Application>Microsoft Office PowerPoint</Application>
  <PresentationFormat>Widescreen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Mahathir Muhammad [MTI]</cp:lastModifiedBy>
  <cp:revision>2</cp:revision>
  <dcterms:created xsi:type="dcterms:W3CDTF">2013-01-27T09:14:16Z</dcterms:created>
  <dcterms:modified xsi:type="dcterms:W3CDTF">2026-05-26T12:10:20Z</dcterms:modified>
  <cp:category/>
</cp:coreProperties>
</file>